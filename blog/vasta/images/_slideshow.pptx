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89"/>
    <p:restoredTop sz="94105"/>
  </p:normalViewPr>
  <p:slideViewPr>
    <p:cSldViewPr snapToGrid="0" snapToObjects="1">
      <p:cViewPr varScale="1">
        <p:scale>
          <a:sx n="67" d="100"/>
          <a:sy n="67" d="100"/>
        </p:scale>
        <p:origin x="11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F64A26-D5FE-1840-AF0E-A079BDF2B41B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8214BC-6C14-8847-B2D8-5EBABE910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97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8214BC-6C14-8847-B2D8-5EBABE9104C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31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77EAF-39CA-3448-8AA9-7C5033235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30C46C-5FF8-E445-9835-1FEB64879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93C94-452E-F043-AAC6-A9A45D19C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4EE04-637E-DF4A-A534-218B8273842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DB47E-7AD0-2D48-B072-2BC8118B1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E1CC5-6C72-6145-BF4F-3E70AD3AC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20109-17E7-9B4B-90B7-830E66B9C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949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4CDE6-B3D3-9649-9CFF-B6563427F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27D13-2CE3-D84C-9C35-FDF5F2405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FDD3A-A52C-C04A-A1B5-C4A42BEF8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4EE04-637E-DF4A-A534-218B8273842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FFD79-6972-9F4E-85EE-7D2E756D9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B73BC-81ED-6C45-AB2C-8915FBF02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20109-17E7-9B4B-90B7-830E66B9C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93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C52A3-A685-DB41-8926-D5CFED59A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964BA-12DB-264E-81DA-DCDE0C849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037D3-FA50-BF43-90D5-0F1A5FCC0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4EE04-637E-DF4A-A534-218B8273842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ACD8C-CF70-6243-B968-05FA0A140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CB527-E80D-2149-997C-EDB455AC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20109-17E7-9B4B-90B7-830E66B9C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519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E915C-39B8-9941-831E-5D9608C05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9192C-8F1A-4C4C-9A3C-C64A7A1C22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BB188C-0B7F-D24E-AACF-2A8A31BBC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4B7B0-4F75-F24E-BBBF-EA0E7C21D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4EE04-637E-DF4A-A534-218B8273842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F1AEF-4841-304B-96ED-FF5A7A631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3B012-EF22-7948-AA98-8BFCF7D0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20109-17E7-9B4B-90B7-830E66B9C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631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B001B-0E1E-FB47-8F63-E2E8C2859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BF167-D43A-2347-9CB1-E520901A4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609607-D7DC-4F40-814E-2E3F0B200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B4941B-BC23-ED4F-9A98-A42F1059FF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3CA944-1DDB-E04A-B032-79ED63D9CE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4DA8D0-7C6E-924F-8D5A-031C320D6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4EE04-637E-DF4A-A534-218B8273842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9A53E7-FE05-4141-AB54-204891D22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65A92E-ABB5-F549-B509-20E8C6CE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20109-17E7-9B4B-90B7-830E66B9C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904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3A741-5A20-764E-9608-8F99A17A3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CBEF6-71AC-DC48-A705-31B135F9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4EE04-637E-DF4A-A534-218B8273842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567731-C189-3B4E-8BD4-F8B7E44C1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3AD01-F102-7644-9CE6-C931A609F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20109-17E7-9B4B-90B7-830E66B9C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675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4EAFEF-C652-6D4F-88AE-F108CF6A0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4EE04-637E-DF4A-A534-218B8273842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1E569C-E89E-E848-8C31-C2A0D344F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740D4-B986-C445-885F-48BC774A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20109-17E7-9B4B-90B7-830E66B9C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259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84580-6741-C149-9EAB-6557317F6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9774B-1636-7645-A0AF-13C79448F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376958-90C1-4342-9A2D-A779BF1C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687BC-9FF0-B046-8C81-CB9FB74DC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4EE04-637E-DF4A-A534-218B8273842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2C023F-3F87-9B40-89CF-783EEA9A8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92B77-A3A6-7142-AED3-9DB506193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20109-17E7-9B4B-90B7-830E66B9C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314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0A172-546D-544F-BA44-A6059D42D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B6B028-4F38-4F4E-B2D8-117B4B61DB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189BF1-F785-8840-8A84-8E6EB5221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D1BEE-9086-EF47-9DE0-A1AF1F9DD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4EE04-637E-DF4A-A534-218B8273842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87CAF9-6842-DC4C-8D42-5533EF142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66355-252A-394C-A3FF-C5420CE9F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20109-17E7-9B4B-90B7-830E66B9C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543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45181-189C-C84D-85C0-9E6A4F2BB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DD4C9D-B31C-A14B-B38D-88A10D315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82C51-54F7-3C43-898F-F2CC18D7F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4EE04-637E-DF4A-A534-218B8273842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2D854-C048-6E4B-AC37-935D4CAD0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1FB83-9CB1-8847-8C21-DEF5F7578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20109-17E7-9B4B-90B7-830E66B9C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01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B3558C-AE3C-A849-8343-0ADC9D949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05FC60-2797-A84D-8C99-078F61C13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BCFDA-2CDB-EC49-AD7E-E7B6E2855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4EE04-637E-DF4A-A534-218B8273842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5C32F-09DD-CA41-9E90-7D68D5D5D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48102-6079-C242-8AE8-8CA37C5A4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20109-17E7-9B4B-90B7-830E66B9C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423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4F7511-2583-0140-AF7A-8D911A798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048CD-0FA0-034C-836B-DD19E4177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14143-CCEA-E842-AF5F-74A4002DCB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B4EE04-637E-DF4A-A534-218B8273842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49268-F613-994B-A8C9-B80F50D5A7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6DDDA-C849-5649-BCDA-C821BABE77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20109-17E7-9B4B-90B7-830E66B9C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30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8694D61-DFC5-BD47-934C-8C0ED463BCEC}"/>
              </a:ext>
            </a:extLst>
          </p:cNvPr>
          <p:cNvSpPr/>
          <p:nvPr/>
        </p:nvSpPr>
        <p:spPr>
          <a:xfrm>
            <a:off x="4146368" y="1762172"/>
            <a:ext cx="3899265" cy="4386101"/>
          </a:xfrm>
          <a:prstGeom prst="roundRect">
            <a:avLst>
              <a:gd name="adj" fmla="val 979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B1593C6-0173-854B-9956-2DC90CB8E910}"/>
              </a:ext>
            </a:extLst>
          </p:cNvPr>
          <p:cNvSpPr/>
          <p:nvPr/>
        </p:nvSpPr>
        <p:spPr>
          <a:xfrm>
            <a:off x="8045526" y="1778222"/>
            <a:ext cx="3899265" cy="4386101"/>
          </a:xfrm>
          <a:prstGeom prst="roundRect">
            <a:avLst>
              <a:gd name="adj" fmla="val 932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1ADCDB5-E5EB-364E-852F-A8ED2DD970A4}"/>
              </a:ext>
            </a:extLst>
          </p:cNvPr>
          <p:cNvSpPr/>
          <p:nvPr/>
        </p:nvSpPr>
        <p:spPr>
          <a:xfrm>
            <a:off x="250898" y="1739865"/>
            <a:ext cx="3899265" cy="4386101"/>
          </a:xfrm>
          <a:prstGeom prst="roundRect">
            <a:avLst>
              <a:gd name="adj" fmla="val 979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6379444-BFE6-964A-8FD9-E0B327AF4792}"/>
              </a:ext>
            </a:extLst>
          </p:cNvPr>
          <p:cNvGrpSpPr/>
          <p:nvPr/>
        </p:nvGrpSpPr>
        <p:grpSpPr>
          <a:xfrm>
            <a:off x="332509" y="295560"/>
            <a:ext cx="11612281" cy="1156905"/>
            <a:chOff x="332509" y="0"/>
            <a:chExt cx="11612281" cy="1156905"/>
          </a:xfrm>
        </p:grpSpPr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289A2610-9FE6-9F40-A10D-F11C19F9189F}"/>
                </a:ext>
              </a:extLst>
            </p:cNvPr>
            <p:cNvSpPr/>
            <p:nvPr/>
          </p:nvSpPr>
          <p:spPr>
            <a:xfrm>
              <a:off x="332509" y="0"/>
              <a:ext cx="11612281" cy="1156905"/>
            </a:xfrm>
            <a:prstGeom prst="roundRect">
              <a:avLst>
                <a:gd name="adj" fmla="val 22572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82026A-753C-0648-A7A9-834CE14A3A2C}"/>
                </a:ext>
              </a:extLst>
            </p:cNvPr>
            <p:cNvSpPr txBox="1"/>
            <p:nvPr/>
          </p:nvSpPr>
          <p:spPr>
            <a:xfrm>
              <a:off x="332509" y="0"/>
              <a:ext cx="11369635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Iowan Old Style Roman" panose="02040602040506020204" pitchFamily="18" charset="77"/>
                </a:rPr>
                <a:t>Seeing what you hear: A practical introduction to Praat</a:t>
              </a:r>
              <a:br>
                <a:rPr lang="en-US" sz="3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Iowan Old Style Roman" panose="02040602040506020204" pitchFamily="18" charset="77"/>
                </a:rPr>
              </a:br>
              <a:r>
                <a:rPr 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Iowan Old Style Roman" panose="02040602040506020204" pitchFamily="18" charset="77"/>
                </a:rPr>
                <a:t>Joey Stanley (Brigham Young University)</a:t>
              </a:r>
            </a:p>
            <a:p>
              <a:pPr algn="ctr"/>
              <a:r>
                <a:rPr 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Iowan Old Style Roman" panose="02040602040506020204" pitchFamily="18" charset="77"/>
                </a:rPr>
                <a:t>  </a:t>
              </a:r>
              <a:r>
                <a:rPr lang="en-US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Iowan Old Style Roman" panose="02040602040506020204" pitchFamily="18" charset="77"/>
                </a:rPr>
                <a:t>joeystanley.com</a:t>
              </a:r>
              <a:r>
                <a:rPr 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Iowan Old Style Roman" panose="02040602040506020204" pitchFamily="18" charset="77"/>
                </a:rPr>
                <a:t>	            </a:t>
              </a:r>
              <a:r>
                <a:rPr lang="en-US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Iowan Old Style Roman" panose="02040602040506020204" pitchFamily="18" charset="77"/>
                </a:rPr>
                <a:t>joey_stanley@byu.edu</a:t>
              </a:r>
              <a:endPara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Iowan Old Style Roman" panose="02040602040506020204" pitchFamily="18" charset="77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04399F3-65C0-8A42-832B-0C974A4F84F6}"/>
              </a:ext>
            </a:extLst>
          </p:cNvPr>
          <p:cNvSpPr txBox="1"/>
          <p:nvPr/>
        </p:nvSpPr>
        <p:spPr>
          <a:xfrm>
            <a:off x="489855" y="1961088"/>
            <a:ext cx="3657600" cy="397031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 dirty="0">
                <a:latin typeface="Iowan Old Style Roman" panose="02040602040506020204" pitchFamily="18" charset="77"/>
              </a:rPr>
              <a:t>Before </a:t>
            </a:r>
          </a:p>
          <a:p>
            <a:pPr algn="ctr"/>
            <a:endParaRPr lang="en-US" dirty="0">
              <a:latin typeface="Iowan Old Style Roman" panose="02040602040506020204" pitchFamily="18" charset="77"/>
            </a:endParaRPr>
          </a:p>
          <a:p>
            <a:pPr algn="just"/>
            <a:r>
              <a:rPr lang="en-US" dirty="0">
                <a:latin typeface="Iowan Old Style Roman" panose="02040602040506020204" pitchFamily="18" charset="77"/>
              </a:rPr>
              <a:t>Ensure your computer is ready. You will need to have: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Iowan Old Style Roman" panose="02040602040506020204" pitchFamily="18" charset="77"/>
              </a:rPr>
              <a:t>a microphone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Iowan Old Style Roman" panose="02040602040506020204" pitchFamily="18" charset="77"/>
              </a:rPr>
              <a:t>headphones (ideally wired)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Iowan Old Style Roman" panose="02040602040506020204" pitchFamily="18" charset="77"/>
              </a:rPr>
              <a:t>access to </a:t>
            </a:r>
            <a:r>
              <a:rPr lang="en-US" dirty="0" err="1">
                <a:latin typeface="Iowan Old Style Roman" panose="02040602040506020204" pitchFamily="18" charset="77"/>
              </a:rPr>
              <a:t>praat.org</a:t>
            </a:r>
            <a:endParaRPr lang="en-US" dirty="0">
              <a:latin typeface="Iowan Old Style Roman" panose="02040602040506020204" pitchFamily="18" charset="77"/>
            </a:endParaRPr>
          </a:p>
          <a:p>
            <a:pPr algn="just"/>
            <a:endParaRPr lang="en-US" dirty="0">
              <a:latin typeface="Iowan Old Style Roman" panose="02040602040506020204" pitchFamily="18" charset="77"/>
            </a:endParaRPr>
          </a:p>
          <a:p>
            <a:pPr algn="just"/>
            <a:r>
              <a:rPr lang="en-US" dirty="0">
                <a:latin typeface="Iowan Old Style Roman" panose="02040602040506020204" pitchFamily="18" charset="77"/>
              </a:rPr>
              <a:t>Holler if you’re stuck!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F1D6C8-A8A1-5E41-903B-6F8008C6AA3E}"/>
              </a:ext>
            </a:extLst>
          </p:cNvPr>
          <p:cNvSpPr txBox="1"/>
          <p:nvPr/>
        </p:nvSpPr>
        <p:spPr>
          <a:xfrm>
            <a:off x="4267200" y="1974100"/>
            <a:ext cx="3657600" cy="120032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 dirty="0">
                <a:latin typeface="Iowan Old Style Roman" panose="02040602040506020204" pitchFamily="18" charset="77"/>
              </a:rPr>
              <a:t>During </a:t>
            </a:r>
          </a:p>
          <a:p>
            <a:pPr algn="ctr"/>
            <a:endParaRPr lang="en-US" dirty="0">
              <a:latin typeface="Iowan Old Style Roman" panose="02040602040506020204" pitchFamily="18" charset="77"/>
            </a:endParaRPr>
          </a:p>
          <a:p>
            <a:pPr algn="ctr"/>
            <a:endParaRPr lang="en-US" dirty="0">
              <a:latin typeface="Iowan Old Style Roman" panose="02040602040506020204" pitchFamily="18" charset="77"/>
            </a:endParaRPr>
          </a:p>
          <a:p>
            <a:pPr algn="ctr"/>
            <a:r>
              <a:rPr lang="en-US" dirty="0">
                <a:latin typeface="Iowan Old Style Roman" panose="02040602040506020204" pitchFamily="18" charset="77"/>
              </a:rPr>
              <a:t>View today’s handout: </a:t>
            </a:r>
          </a:p>
          <a:p>
            <a:pPr algn="ctr"/>
            <a:r>
              <a:rPr lang="en-US" b="1" dirty="0" err="1">
                <a:latin typeface="Iowan Old Style Roman" panose="02040602040506020204" pitchFamily="18" charset="77"/>
              </a:rPr>
              <a:t>joeystanley.com</a:t>
            </a:r>
            <a:r>
              <a:rPr lang="en-US" b="1" dirty="0">
                <a:latin typeface="Iowan Old Style Roman" panose="02040602040506020204" pitchFamily="18" charset="77"/>
              </a:rPr>
              <a:t>/</a:t>
            </a:r>
            <a:r>
              <a:rPr lang="en-US" b="1" dirty="0" err="1">
                <a:latin typeface="Iowan Old Style Roman" panose="02040602040506020204" pitchFamily="18" charset="77"/>
              </a:rPr>
              <a:t>vasta</a:t>
            </a:r>
            <a:endParaRPr lang="en-US" b="1" dirty="0">
              <a:latin typeface="Iowan Old Style Roman" panose="02040602040506020204" pitchFamily="18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562A74-32D7-FB4D-A5E6-62CE2BC30750}"/>
              </a:ext>
            </a:extLst>
          </p:cNvPr>
          <p:cNvSpPr txBox="1"/>
          <p:nvPr/>
        </p:nvSpPr>
        <p:spPr>
          <a:xfrm>
            <a:off x="8220891" y="1974100"/>
            <a:ext cx="3481253" cy="30959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 dirty="0">
                <a:latin typeface="Iowan Old Style Roman" panose="02040602040506020204" pitchFamily="18" charset="77"/>
              </a:rPr>
              <a:t>After</a:t>
            </a:r>
          </a:p>
          <a:p>
            <a:pPr algn="ctr"/>
            <a:r>
              <a:rPr lang="en-US" b="1" dirty="0">
                <a:latin typeface="Iowan Old Style Roman" panose="02040602040506020204" pitchFamily="18" charset="77"/>
              </a:rPr>
              <a:t> </a:t>
            </a:r>
          </a:p>
          <a:p>
            <a:pPr algn="ctr"/>
            <a:endParaRPr lang="en-US" dirty="0">
              <a:latin typeface="Iowan Old Style Roman" panose="02040602040506020204" pitchFamily="18" charset="77"/>
            </a:endParaRPr>
          </a:p>
          <a:p>
            <a:pPr algn="ctr"/>
            <a:r>
              <a:rPr lang="en-US" dirty="0">
                <a:latin typeface="Iowan Old Style Roman" panose="02040602040506020204" pitchFamily="18" charset="77"/>
              </a:rPr>
              <a:t>Explore other workshops:</a:t>
            </a:r>
          </a:p>
          <a:p>
            <a:pPr algn="ctr"/>
            <a:r>
              <a:rPr lang="en-US" b="1" dirty="0" err="1">
                <a:latin typeface="Iowan Old Style Roman" panose="02040602040506020204" pitchFamily="18" charset="77"/>
              </a:rPr>
              <a:t>joeystanley.com</a:t>
            </a:r>
            <a:r>
              <a:rPr lang="en-US" b="1" dirty="0">
                <a:latin typeface="Iowan Old Style Roman" panose="02040602040506020204" pitchFamily="18" charset="77"/>
              </a:rPr>
              <a:t>/</a:t>
            </a:r>
            <a:r>
              <a:rPr lang="en-US" b="1" dirty="0" err="1">
                <a:latin typeface="Iowan Old Style Roman" panose="02040602040506020204" pitchFamily="18" charset="77"/>
              </a:rPr>
              <a:t>praat</a:t>
            </a:r>
            <a:endParaRPr lang="en-US" dirty="0">
              <a:latin typeface="Iowan Old Style Roman" panose="020406020405060202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2409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39075CB-E746-D42E-F9D0-0BF237E92BAA}"/>
              </a:ext>
            </a:extLst>
          </p:cNvPr>
          <p:cNvSpPr txBox="1"/>
          <p:nvPr/>
        </p:nvSpPr>
        <p:spPr>
          <a:xfrm>
            <a:off x="1201068" y="763291"/>
            <a:ext cx="10267032" cy="4820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BITSTREAM IOWAN OLD STYLE BT" panose="02040602040506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Record yourself saying the following sentence: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BITSTREAM IOWAN OLD STYLE BT" panose="02040602040506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400" kern="100" dirty="0">
                <a:effectLst/>
                <a:latin typeface="BITSTREAM IOWAN OLD STYLE BT" panose="02040602040506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“She tried to make herself sound younger than she was, the way adults did when talking to little babies.”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BITSTREAM IOWAN OLD STYLE BT" panose="02040602040506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sz="2000" dirty="0">
                <a:effectLst/>
                <a:latin typeface="BITSTREAM IOWAN OLD STYLE BT" panose="02040602040506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dirty="0">
              <a:effectLst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BITSTREAM IOWAN OLD STYLE BT" panose="02040602040506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555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090DC3-7CB1-1F82-C912-8EC5BD841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309710"/>
              </p:ext>
            </p:extLst>
          </p:nvPr>
        </p:nvGraphicFramePr>
        <p:xfrm>
          <a:off x="3268345" y="2090578"/>
          <a:ext cx="5655310" cy="256032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963930">
                  <a:extLst>
                    <a:ext uri="{9D8B030D-6E8A-4147-A177-3AD203B41FA5}">
                      <a16:colId xmlns:a16="http://schemas.microsoft.com/office/drawing/2014/main" val="585082985"/>
                    </a:ext>
                  </a:extLst>
                </a:gridCol>
                <a:gridCol w="894715">
                  <a:extLst>
                    <a:ext uri="{9D8B030D-6E8A-4147-A177-3AD203B41FA5}">
                      <a16:colId xmlns:a16="http://schemas.microsoft.com/office/drawing/2014/main" val="1103091306"/>
                    </a:ext>
                  </a:extLst>
                </a:gridCol>
                <a:gridCol w="867410">
                  <a:extLst>
                    <a:ext uri="{9D8B030D-6E8A-4147-A177-3AD203B41FA5}">
                      <a16:colId xmlns:a16="http://schemas.microsoft.com/office/drawing/2014/main" val="544847983"/>
                    </a:ext>
                  </a:extLst>
                </a:gridCol>
                <a:gridCol w="1017905">
                  <a:extLst>
                    <a:ext uri="{9D8B030D-6E8A-4147-A177-3AD203B41FA5}">
                      <a16:colId xmlns:a16="http://schemas.microsoft.com/office/drawing/2014/main" val="135129880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91217199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val="1881924288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 dirty="0">
                          <a:effectLst/>
                        </a:rPr>
                        <a:t>tack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soup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days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shoot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pad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dill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2946434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steep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 dirty="0">
                          <a:effectLst/>
                        </a:rPr>
                        <a:t>sit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 dirty="0">
                          <a:effectLst/>
                        </a:rPr>
                        <a:t>code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tab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bees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scope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5795417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kill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dice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 dirty="0">
                          <a:effectLst/>
                        </a:rPr>
                        <a:t>bash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 dirty="0">
                          <a:effectLst/>
                        </a:rPr>
                        <a:t>goes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bus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 dirty="0">
                          <a:effectLst/>
                        </a:rPr>
                        <a:t>seep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6181083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cab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spit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peg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gas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 dirty="0">
                          <a:effectLst/>
                        </a:rPr>
                        <a:t>shop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 dirty="0">
                          <a:effectLst/>
                        </a:rPr>
                        <a:t>skill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025074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56EC7A2-137A-ECDB-F84B-BCCD264FBF05}"/>
              </a:ext>
            </a:extLst>
          </p:cNvPr>
          <p:cNvSpPr txBox="1"/>
          <p:nvPr/>
        </p:nvSpPr>
        <p:spPr>
          <a:xfrm>
            <a:off x="2825819" y="879503"/>
            <a:ext cx="6097836" cy="69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BITSTREAM IOWAN OLD STYLE BT" panose="02040602040506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Record yourself saying the following words:</a:t>
            </a:r>
            <a:endParaRPr lang="en-US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kern="100" dirty="0">
                <a:effectLst/>
                <a:latin typeface="BITSTREAM IOWAN OLD STYLE BT" panose="02040602040506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768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148</Words>
  <Application>Microsoft Macintosh PowerPoint</Application>
  <PresentationFormat>Widescreen</PresentationFormat>
  <Paragraphs>53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Arial</vt:lpstr>
      <vt:lpstr>BITSTREAM IOWAN OLD STYLE BT</vt:lpstr>
      <vt:lpstr>Calibri</vt:lpstr>
      <vt:lpstr>Calibri Light</vt:lpstr>
      <vt:lpstr>Iowan Old Style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Joseph Abraham Stanley</dc:creator>
  <cp:lastModifiedBy>Joey Stanley</cp:lastModifiedBy>
  <cp:revision>7</cp:revision>
  <dcterms:created xsi:type="dcterms:W3CDTF">2019-08-21T18:28:35Z</dcterms:created>
  <dcterms:modified xsi:type="dcterms:W3CDTF">2026-07-26T00:18:57Z</dcterms:modified>
</cp:coreProperties>
</file>